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2" r:id="rId4"/>
    <p:sldId id="273" r:id="rId5"/>
    <p:sldId id="274" r:id="rId6"/>
    <p:sldId id="275" r:id="rId7"/>
    <p:sldId id="271" r:id="rId8"/>
    <p:sldId id="276" r:id="rId9"/>
    <p:sldId id="260" r:id="rId10"/>
    <p:sldId id="261" r:id="rId11"/>
    <p:sldId id="262" r:id="rId12"/>
    <p:sldId id="263" r:id="rId13"/>
    <p:sldId id="277" r:id="rId14"/>
    <p:sldId id="264" r:id="rId15"/>
    <p:sldId id="278" r:id="rId16"/>
    <p:sldId id="279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67"/>
    <p:restoredTop sz="94610"/>
  </p:normalViewPr>
  <p:slideViewPr>
    <p:cSldViewPr snapToGrid="0" snapToObjects="1">
      <p:cViewPr>
        <p:scale>
          <a:sx n="90" d="100"/>
          <a:sy n="90" d="100"/>
        </p:scale>
        <p:origin x="144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355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640080"/>
            <a:ext cx="1920240" cy="1920240"/>
          </a:xfrm>
          <a:prstGeom prst="ellipse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 «VK»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БИЗНЕС-МОДЕЛЬ, СТРУКТУРА ВЛАДЕНИЯ, ПОЛОЖЕНИЕ НА РЫНКЕ И СОВРЕМЕННЫЕ ТЕХНОЛОГИИ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80560"/>
            <a:ext cx="8414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dirty="0"/>
              <a:t>Заболотная Ева</a:t>
            </a:r>
            <a:r>
              <a:rPr lang="en-US" dirty="0"/>
              <a:t>, </a:t>
            </a:r>
            <a:r>
              <a:rPr lang="ru-RU" dirty="0" err="1"/>
              <a:t>Капелькина</a:t>
            </a:r>
            <a:r>
              <a:rPr lang="ru-RU" dirty="0"/>
              <a:t> Диана 24</a:t>
            </a:r>
            <a:r>
              <a:rPr lang="en-US" dirty="0"/>
              <a:t>.</a:t>
            </a:r>
            <a:r>
              <a:rPr lang="ru-RU" dirty="0"/>
              <a:t>Б09-э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1823"/>
            <a:ext cx="822960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007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81771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из крупнейших технологических компаний России: холдинг МКПАО «ВК» контролирует «ВКонтакте», «Одноклассники», «Дзен», сервисы Mail.ru и мессенджер Max. Акции торгуются на Мосбирже (VKCO).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9725" y="2071644"/>
            <a:ext cx="4300537" cy="277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ru-RU" sz="1400" dirty="0"/>
              <a:t>Компания работает в нескольких направлениях:</a:t>
            </a:r>
            <a:endParaRPr lang="ru-RU" sz="1400" dirty="0">
              <a:solidFill>
                <a:srgbClr val="1F2A4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соцсети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контент (ВКонтакте, VK Видео, Дзен);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мессенджер Max и платёжные функции;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онлайн-реклама;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для бизнеса: VK WorkSpace, облако, дата-сервисы (VK Tech);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образовательные технологии;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экосистемные сервисы: знакомства, YCLIENTS, облако Mail и </a:t>
            </a:r>
            <a:r>
              <a:rPr lang="en-US" sz="140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ru-RU" sz="1100" dirty="0">
              <a:solidFill>
                <a:srgbClr val="88888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219DF15-6C3E-375E-5B96-6498E49E3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1" y="2098040"/>
            <a:ext cx="3889374" cy="14224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B582286-F258-381D-49D2-7EAE80C5F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1" y="3749208"/>
            <a:ext cx="3267941" cy="11082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9F9A30-F9FA-D519-734F-4BE6825E1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659"/>
            <a:ext cx="9144001" cy="512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7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66FCD1-0F8C-6C49-8CE2-41430063A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658"/>
            <a:ext cx="9159447" cy="513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55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3A27D4-C368-C348-9E97-728BC4F1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658"/>
            <a:ext cx="9159449" cy="513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20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F89D31-FCAA-A62A-0CFC-D6E280092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"/>
            <a:ext cx="9144000" cy="512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1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E1E0C8-91F7-B7D3-9EC7-26F995B19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32"/>
            <a:ext cx="9144000" cy="512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46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6B7B19-26EA-6E58-0BD7-90F2E80C2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658"/>
            <a:ext cx="9159447" cy="513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28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ГРУППЫ КЛИЕНТОВ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331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ГРУППА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ПОЛУЧАЕТ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VK ЗАРАБАТЫВАЕТ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Пользователи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Соцсети, видео, мессенджер Max, музыка, знакомства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Реклама, подписка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Рекламодатели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Доступ к аудитории 90,7 млн человек в день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Рекламная выручка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Малый и средний бизнес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Сообщества, YCLIENTS, продажи в соцсетях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Реклама, подписки на сервисы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Корпоративные клиенты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VK WorkSpace, облако, дата-сервисы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B2B-подписки и потребление ресурсов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Образовательные клиенты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Онлайн-курсы и платформы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Платная выручка образовательного сегмента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Государство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Платформа национального мессенджера Max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Рост аудитории и платформенные сервисы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700"/>
              </a:spcAft>
              <a:buSzPct val="100000"/>
            </a:pPr>
            <a:r>
              <a:rPr lang="en-US" sz="9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https://</a:t>
            </a:r>
            <a:r>
              <a:rPr lang="en-US" sz="9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vk.company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9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/investors/results/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ИСТОРИЧЕСКИ ГЛАВНЫЙ БИЗНЕС VK — РЕКЛАМА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98,3 млрд руб. </a:t>
            </a:r>
            <a:r>
              <a:rPr lang="en-US" sz="17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от онлайн-рекламы в 2025 г. </a:t>
            </a:r>
            <a:r>
              <a:rPr lang="ru-RU" sz="17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7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рост всего 2,3 %.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+28 % </a:t>
            </a:r>
            <a:r>
              <a:rPr lang="en-US" sz="17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от in-stream-видеорекламы в I квартале 2026 </a:t>
            </a:r>
            <a:r>
              <a:rPr lang="en-US" sz="170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r>
              <a:rPr lang="en-US" sz="17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ru-RU" sz="1700" dirty="0">
              <a:solidFill>
                <a:srgbClr val="1F2A4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700"/>
              </a:spcAft>
              <a:buSzPct val="100000"/>
            </a:pPr>
            <a:r>
              <a:rPr lang="ru-RU" b="1" dirty="0">
                <a:solidFill>
                  <a:srgbClr val="0177FF"/>
                </a:solidFill>
              </a:rPr>
              <a:t>В 2025 году ВК сообщал, что</a:t>
            </a:r>
            <a:r>
              <a:rPr lang="ru-RU" sz="1600" dirty="0">
                <a:solidFill>
                  <a:srgbClr val="0177FF"/>
                </a:solidFill>
              </a:rPr>
              <a:t> </a:t>
            </a:r>
            <a:r>
              <a:rPr lang="ru-RU" sz="1600" dirty="0"/>
              <a:t>доходы от рекламы выросли благодаря активной интеграции умных рекомендательных алгоритмов в контентные платформы и расширению инструментов автоматизации для малого и среднего бизнеса.</a:t>
            </a:r>
          </a:p>
          <a:p>
            <a:pPr>
              <a:spcAft>
                <a:spcPts val="700"/>
              </a:spcAft>
              <a:buSzPct val="100000"/>
            </a:pPr>
            <a:r>
              <a:rPr lang="ru-RU" b="1" dirty="0">
                <a:solidFill>
                  <a:srgbClr val="0177FF"/>
                </a:solidFill>
              </a:rPr>
              <a:t>В 2026 году компания внедрила в рекламную систему технологию</a:t>
            </a:r>
            <a:r>
              <a:rPr lang="ru-RU" sz="1600" dirty="0">
                <a:solidFill>
                  <a:srgbClr val="0177FF"/>
                </a:solidFill>
              </a:rPr>
              <a:t> </a:t>
            </a:r>
            <a:r>
              <a:rPr lang="ru-RU" sz="1600" dirty="0"/>
              <a:t>на базе ИИ-ассистентов и продвинутых нейросетевых моделей. Новая система автоматически генерирует персонализированные креативы под конкретные сегменты аудитории и оптимизирует распределение бюджета в режиме реального времени внутри всей экосистемы сервисов.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Sostav.ru 21.05.2026 и 13.08.2026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ЭКОСИСТЕМНАЯ МОДЕЛЬ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007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ВКонтакте → VK Видео → Max → Дзен / Одноклассники → сервисы для бизнеса. Пользователь переходит из сервиса в сервис, не покидая экосистему.</a:t>
            </a:r>
            <a:endParaRPr lang="en-US" sz="1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699C30-AC6D-55EF-19DF-CE8F49221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02945"/>
            <a:ext cx="2576514" cy="90848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2E92387-F609-288A-4845-22F04E129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006" y="2308860"/>
            <a:ext cx="2336800" cy="21971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B2489B2-4B49-B92A-7C97-829F67095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31720"/>
            <a:ext cx="2572802" cy="7236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EF05B8F-E785-E1DD-1EEF-4F6D8B68D9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3600" y="3452495"/>
            <a:ext cx="2362200" cy="12573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FCEF3A7-64F6-C42F-7D05-71641EBE5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098" y="2308860"/>
            <a:ext cx="2336800" cy="70812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C0FF80D-F02E-E923-E7B9-CC56534E40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098" y="3268979"/>
            <a:ext cx="2336800" cy="15895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— НАЦИОНАЛЬНЫЙ МЕССЕНДЖЕР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007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Мессенджер, платежи, ИИ-помощник GigaChat и доступ к Госуслугам в одном приложении; закон закрепил предустановку и ограничил иностранные мессенджеры для госуслуг.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млн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месячная аудитория, 87 млн — дневная.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 млрд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сообщений и более 8 млрд звонков за полугодие.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Сетевой эффект: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пользователей → больше сервисов и платежей → больше пользователей.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2FC6F1-3309-541D-7CC1-2E2B683E5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" y="0"/>
            <a:ext cx="9142800" cy="514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35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B2B-МОДЕЛЬ: VK TECH И VK WORKSPACE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007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 «Технологии для бизнеса» — быстрорастущее направление: выручка за 1П 2026 составила 9 млрд руб. (+35 %).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 WorkSpace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(сервисы продуктивности): выручка +95 % год к году.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Облако Mail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+93 %, дата-сервисы +58 % (I квартал 2026).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Смысл: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замена зарубежным корпоративным и облачным сервисам.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D2701F-EB9A-E0BC-C385-689575619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" y="0"/>
            <a:ext cx="9142800" cy="514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37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B84098-EAF0-B75E-82BA-50EC853B4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91440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50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ОБРАЗОВАНИЕ И ДРУГИЕ НАПРАВЛЕНИЯ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Образовательные технологии: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 млрд руб. (+26 %) за 1П 2026.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 Знакомства: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выросла в 2 раза, YCLIENTS — на 30 % (I кв.).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RuStore: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в I кв. выросла в 2,6 раза; позднее магазин продан его руководителю.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«Точка»: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продана доля 25 % за 21,2 млрд руб.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Логика: </a:t>
            </a: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развивать растущее, продавать непрофильное и снижать долг.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Smart-lab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ВЛАДЕЛЬЦЫ VK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007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июня 2025 года у VK нет единого контролирующего акционера; капитал разделён на два класса акций с разным числом голосов.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Исторически крупнейшими акционерами стали «Согаз» и Газпромбанк: в декабре 2021 г. получили по 45 % в «МФ Технологии», контролировавшей 57,3 % голосов VK; позже долю Газпромбанка передали «Газпром-медиа».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Обыкновенные акции торгуются на Мосбирже, тикер VKCO.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Последний подробный список акционеров раскрыт 17.04.2026 (данные на август 2025 г.).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ВЛИЯЕТ НА БИЗНЕС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Государство: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законы о национальном мессенджере и предустановке; Минцифры.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Евросоюз: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июле 2026 г. ввёл санкции против VK.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Рекламодатели: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 </a:t>
            </a:r>
            <a:r>
              <a:rPr lang="en-US" sz="140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12,5 млрд руб. рекламы в I квартале (+4 %).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Кредиторы и инвесторы: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долг 60,2 млрд руб.; размещены облигации на 10 млрд.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 определяет, какие сервисы развивать.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Менеджмент: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решает, что продавать (RuStore, «Точка») и куда инвестировать.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r>
              <a:rPr lang="en-US" sz="9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Sostav.ru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r>
              <a:rPr lang="ru-RU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ComNews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Новая газета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VK РЕАЛИЗУЕТСЯ НА РЫНКЕ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ПЛАТФОРМЕННАЯ СТРАТЕГИЯ: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 ↔ VK ↔ рекламодатели; пользователи ↔ Max ↔ бизнес и сервисы.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МАССОВЫЙ B2C: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ВКонтакте, VK Видео, Max, музыка, знакомства — задача: большая аудитория и высокая частота использования.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И ПЛАТЁЖИ: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 Tech, WorkSpace и финансовые функции в Max.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РЕГУЛЯТОРА: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делает Max основой национального мессенджера.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ТЕХНОЛОГИИ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Суперприложение Max: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чаты, звонки, платежи и госуслуги; интегрирован ИИ-бот GigaChat (разработка Сбера).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просмотры контента в VK Видео выросли в 1,6 раза (I кв. 2026).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облако: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дата-сервисы +58 %, Облако Mail +93%.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проверено: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собственные ИИ-модели VK в этой работе не </a:t>
            </a:r>
            <a:r>
              <a:rPr lang="en-US" sz="140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изучались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раздел стоит дополнить по первоисточникам.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r>
              <a:rPr lang="en-US" sz="9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SecurityLab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ИТОГИ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007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 растёт и снижает долг, но прибыль пока минимальна, а зависимость от регулятора и санкции остаются рисками.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санкции ЕС, слабая реклама (+2,3 % в 2025), долг 60,2 млрд руб., чистая прибыль II кв. всего 328 млн.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на год: 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2026 &gt; 24 млрд руб. (80 %), </a:t>
            </a:r>
            <a:r>
              <a:rPr lang="en-US" sz="140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итоговый пресс-релиз VK до 30.04.2027.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ru-RU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Smart-lab. Данные на 20.10.2026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972</Words>
  <Application>Microsoft Macintosh PowerPoint</Application>
  <PresentationFormat>Экран (16:9)</PresentationFormat>
  <Paragraphs>103</Paragraphs>
  <Slides>22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evazabolotnaya@icloud.com</cp:lastModifiedBy>
  <cp:revision>2</cp:revision>
  <dcterms:created xsi:type="dcterms:W3CDTF">2026-10-20T20:23:25Z</dcterms:created>
  <dcterms:modified xsi:type="dcterms:W3CDTF">2026-10-20T21:32:47Z</dcterms:modified>
</cp:coreProperties>
</file>